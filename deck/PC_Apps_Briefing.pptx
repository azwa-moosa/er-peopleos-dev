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fba9401-76f4-041d-ca88-ddfa037b2a25}">
          <p14:sldIdLst>
            <p14:sldId id="256"/>
            <p14:sldId id="257"/>
            <p14:sldId id="258"/>
          </p14:sldIdLst>
        </p14:section>
        <p14:section name="The four apps" id="{d54a2ca9-2138-8e1c-9ab3-42832a13502e}">
          <p14:sldIdLst>
            <p14:sldId id="259"/>
            <p14:sldId id="260"/>
            <p14:sldId id="261"/>
            <p14:sldId id="262"/>
          </p14:sldIdLst>
        </p14:section>
        <p14:section name="Controls" id="{74cf5c58-5c3c-4802-1879-998b928e7e50}">
          <p14:sldIdLst>
            <p14:sldId id="263"/>
            <p14:sldId id="264"/>
          </p14:sldIdLst>
        </p14:section>
        <p14:section name="Next steps" id="{f20888b6-b611-49fe-b740-ed481a76c0e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of plan: instead of one integrated platform we deliver four separate apps, each with its own CR, on OneUI under 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BCBF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People and Culture · Four apps, four CRs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People and Culture apps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BCBF"/>
                </a:solidFill>
              </a:rPr>
              <a:t>Four apps, four CRs, three views each: Staff, Manager and HR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CBF"/>
                </a:solidFill>
              </a:rPr>
              <a:t>KPI: Transform HR Service Delivery through Digital Transformation – Process Optimization &amp; Automation · OneUI → 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separate apps replace one platform</a:t>
            </a:r>
            <a:endParaRPr lang="en-US" sz="2800" dirty="0"/>
          </a:p>
        </p:txBody>
      </p:sp>
      <p:sp>
        <p:nvSpPr>
          <p:cNvPr id="3" name="card-2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3"/>
          <p:cNvSpPr txBox="1"/>
          <p:nvPr/>
        </p:nvSpPr>
        <p:spPr>
          <a:xfrm>
            <a:off x="82296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</a:t>
            </a:r>
            <a:endParaRPr lang="en-US" sz="6000" dirty="0"/>
          </a:p>
        </p:txBody>
      </p:sp>
      <p:sp>
        <p:nvSpPr>
          <p:cNvPr id="5" name="text-4"/>
          <p:cNvSpPr txBox="1"/>
          <p:nvPr/>
        </p:nvSpPr>
        <p:spPr>
          <a:xfrm>
            <a:off x="82296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apps on OneUI → ESS</a:t>
            </a:r>
            <a:endParaRPr lang="en-US" sz="1400" dirty="0"/>
          </a:p>
        </p:txBody>
      </p:sp>
      <p:sp>
        <p:nvSpPr>
          <p:cNvPr id="6" name="card-5"/>
          <p:cNvSpPr/>
          <p:nvPr/>
        </p:nvSpPr>
        <p:spPr>
          <a:xfrm>
            <a:off x="338328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6"/>
          <p:cNvSpPr txBox="1"/>
          <p:nvPr/>
        </p:nvSpPr>
        <p:spPr>
          <a:xfrm>
            <a:off x="365760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</a:t>
            </a:r>
            <a:endParaRPr lang="en-US" sz="6000" dirty="0"/>
          </a:p>
        </p:txBody>
      </p:sp>
      <p:sp>
        <p:nvSpPr>
          <p:cNvPr id="8" name="text-7"/>
          <p:cNvSpPr txBox="1"/>
          <p:nvPr/>
        </p:nvSpPr>
        <p:spPr>
          <a:xfrm>
            <a:off x="365760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CRs, one per app</a:t>
            </a:r>
            <a:endParaRPr lang="en-US" sz="1400" dirty="0"/>
          </a:p>
        </p:txBody>
      </p:sp>
      <p:sp>
        <p:nvSpPr>
          <p:cNvPr id="9" name="card-8"/>
          <p:cNvSpPr/>
          <p:nvPr/>
        </p:nvSpPr>
        <p:spPr>
          <a:xfrm>
            <a:off x="621792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9"/>
          <p:cNvSpPr txBox="1"/>
          <p:nvPr/>
        </p:nvSpPr>
        <p:spPr>
          <a:xfrm>
            <a:off x="649224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endParaRPr lang="en-US" sz="6000" dirty="0"/>
          </a:p>
        </p:txBody>
      </p:sp>
      <p:sp>
        <p:nvSpPr>
          <p:cNvPr id="11" name="text-10"/>
          <p:cNvSpPr txBox="1"/>
          <p:nvPr/>
        </p:nvSpPr>
        <p:spPr>
          <a:xfrm>
            <a:off x="64922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views per app: Staff, Manager, HR</a:t>
            </a:r>
            <a:endParaRPr lang="en-US" sz="1400" dirty="0"/>
          </a:p>
        </p:txBody>
      </p:sp>
      <p:sp>
        <p:nvSpPr>
          <p:cNvPr id="12" name="card-11"/>
          <p:cNvSpPr/>
          <p:nvPr/>
        </p:nvSpPr>
        <p:spPr>
          <a:xfrm>
            <a:off x="905256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2"/>
          <p:cNvSpPr txBox="1"/>
          <p:nvPr/>
        </p:nvSpPr>
        <p:spPr>
          <a:xfrm>
            <a:off x="932688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</a:t>
            </a:r>
            <a:endParaRPr lang="en-US" sz="6000" dirty="0"/>
          </a:p>
        </p:txBody>
      </p:sp>
      <p:sp>
        <p:nvSpPr>
          <p:cNvPr id="14" name="text-13"/>
          <p:cNvSpPr txBox="1"/>
          <p:nvPr/>
        </p:nvSpPr>
        <p:spPr>
          <a:xfrm>
            <a:off x="932688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automatic reference number series</a:t>
            </a:r>
            <a:endParaRPr lang="en-US" sz="1400" dirty="0"/>
          </a:p>
        </p:txBody>
      </p:sp>
      <p:sp>
        <p:nvSpPr>
          <p:cNvPr id="15" name="text-14"/>
          <p:cNvSpPr txBox="1"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is new in this 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Employee Voice routes to HR (always), Division Chief and Division Director, and adds a sexual harassment route to HR only.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case can be a formal grievance or not; timebound cases follow timelines HR sets to match policy.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People Manager becomes the HR case management system: manager reports, cases, D&amp;G Committee, disciplinary letters, 30 existing cases.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app now has a Manager view: endorsements, routed reports, team cases and leaver follow-up. Employees receive disciplinary letters privately in ESS.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Microsoft 365 integration moves to a later phase.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toggle, three views: Staff, Manager and HR</a:t>
            </a:r>
            <a:endParaRPr lang="en-US" sz="2800" dirty="0"/>
          </a:p>
        </p:txBody>
      </p:sp>
      <p:sp>
        <p:nvSpPr>
          <p:cNvPr id="3" name="card-15"/>
          <p:cNvSpPr/>
          <p:nvPr/>
        </p:nvSpPr>
        <p:spPr>
          <a:xfrm>
            <a:off x="548640" y="137160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-16"/>
          <p:cNvSpPr txBox="1"/>
          <p:nvPr/>
        </p:nvSpPr>
        <p:spPr>
          <a:xfrm>
            <a:off x="82296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Staff | Manager | HR</a:t>
            </a:r>
            <a:endParaRPr lang="en-US" sz="2000" dirty="0"/>
          </a:p>
        </p:txBody>
      </p:sp>
      <p:sp>
        <p:nvSpPr>
          <p:cNvPr id="5" name="text-17"/>
          <p:cNvSpPr txBox="1"/>
          <p:nvPr/>
        </p:nvSpPr>
        <p:spPr>
          <a:xfrm>
            <a:off x="822960" y="2468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DBDB"/>
                </a:solidFill>
              </a:rPr>
              <a:t>Toggle in the app header. Each person sees only the views they qualify for: Manager for people leaders, HR for the P&amp;C access group. No other roles.</a:t>
            </a:r>
            <a:endParaRPr lang="en-US" sz="1300" dirty="0"/>
          </a:p>
        </p:txBody>
      </p:sp>
      <p:graphicFrame>
        <p:nvGraphicFramePr>
          <p:cNvPr id="4" name="table-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1945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Staff view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Manager view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HR view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Automation Bot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Request, track, download letters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Endorse team requests; see status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Draft, second check, issue; templates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Employee Voice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Raise a concern, choose recipients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Chief or Director: see routed reports, respond to HR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Inbox, updates, outcomes, timelines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People Manager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My HR letters: acknowledge, reply to show cause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Guidance, report issues, team case stages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Intake, ER cases, D&amp;G, letters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Exit Interviews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Complete the exit questionnaire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Team leavers, shared summaries, actions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Leavers, actions, insights</a:t>
                      </a:r>
                      <a:endParaRPr lang="en-US" sz="12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Automation Bot: endorse, check, then issue</a:t>
            </a:r>
            <a:endParaRPr lang="en-US" sz="2800" dirty="0"/>
          </a:p>
        </p:txBody>
      </p:sp>
      <p:sp>
        <p:nvSpPr>
          <p:cNvPr id="3" name="card-19"/>
          <p:cNvSpPr/>
          <p:nvPr/>
        </p:nvSpPr>
        <p:spPr>
          <a:xfrm>
            <a:off x="548640" y="1371600"/>
            <a:ext cx="1653540" cy="2103120"/>
          </a:xfrm>
          <a:prstGeom prst="roundRect">
            <a:avLst>
              <a:gd name="adj" fmla="val 4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20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otlabel-21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22"/>
          <p:cNvSpPr txBox="1"/>
          <p:nvPr/>
        </p:nvSpPr>
        <p:spPr>
          <a:xfrm>
            <a:off x="731520" y="219456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Request</a:t>
            </a:r>
            <a:endParaRPr lang="en-US" sz="1500" dirty="0"/>
          </a:p>
        </p:txBody>
      </p:sp>
      <p:sp>
        <p:nvSpPr>
          <p:cNvPr id="7" name="text-23"/>
          <p:cNvSpPr txBox="1"/>
          <p:nvPr/>
        </p:nvSpPr>
        <p:spPr>
          <a:xfrm>
            <a:off x="731520" y="2560320"/>
            <a:ext cx="12877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Staff pick one of seven letters. Ref PC/RL.</a:t>
            </a:r>
            <a:endParaRPr lang="en-US" sz="1200" dirty="0"/>
          </a:p>
        </p:txBody>
      </p:sp>
      <p:sp>
        <p:nvSpPr>
          <p:cNvPr id="8" name="card-24"/>
          <p:cNvSpPr/>
          <p:nvPr/>
        </p:nvSpPr>
        <p:spPr>
          <a:xfrm>
            <a:off x="2430780" y="1371600"/>
            <a:ext cx="1653540" cy="2103120"/>
          </a:xfrm>
          <a:prstGeom prst="roundRect">
            <a:avLst>
              <a:gd name="adj" fmla="val 4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25"/>
          <p:cNvSpPr/>
          <p:nvPr/>
        </p:nvSpPr>
        <p:spPr>
          <a:xfrm>
            <a:off x="261366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label-26"/>
          <p:cNvSpPr txBox="1"/>
          <p:nvPr/>
        </p:nvSpPr>
        <p:spPr>
          <a:xfrm>
            <a:off x="26136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27"/>
          <p:cNvSpPr txBox="1"/>
          <p:nvPr/>
        </p:nvSpPr>
        <p:spPr>
          <a:xfrm>
            <a:off x="2613660" y="219456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Endorse</a:t>
            </a:r>
            <a:endParaRPr lang="en-US" sz="1500" dirty="0"/>
          </a:p>
        </p:txBody>
      </p:sp>
      <p:sp>
        <p:nvSpPr>
          <p:cNvPr id="12" name="text-28"/>
          <p:cNvSpPr txBox="1"/>
          <p:nvPr/>
        </p:nvSpPr>
        <p:spPr>
          <a:xfrm>
            <a:off x="2613660" y="2560320"/>
            <a:ext cx="12877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Line manager endorses release and academic excuse letters.</a:t>
            </a:r>
            <a:endParaRPr lang="en-US" sz="1200" dirty="0"/>
          </a:p>
        </p:txBody>
      </p:sp>
      <p:sp>
        <p:nvSpPr>
          <p:cNvPr id="13" name="card-29"/>
          <p:cNvSpPr/>
          <p:nvPr/>
        </p:nvSpPr>
        <p:spPr>
          <a:xfrm>
            <a:off x="4312920" y="1371600"/>
            <a:ext cx="1653540" cy="2103120"/>
          </a:xfrm>
          <a:prstGeom prst="roundRect">
            <a:avLst>
              <a:gd name="adj" fmla="val 4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30"/>
          <p:cNvSpPr/>
          <p:nvPr/>
        </p:nvSpPr>
        <p:spPr>
          <a:xfrm>
            <a:off x="44958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otlabel-31"/>
          <p:cNvSpPr txBox="1"/>
          <p:nvPr/>
        </p:nvSpPr>
        <p:spPr>
          <a:xfrm>
            <a:off x="449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32"/>
          <p:cNvSpPr txBox="1"/>
          <p:nvPr/>
        </p:nvSpPr>
        <p:spPr>
          <a:xfrm>
            <a:off x="4495800" y="219456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Draft</a:t>
            </a:r>
            <a:endParaRPr lang="en-US" sz="1500" dirty="0"/>
          </a:p>
        </p:txBody>
      </p:sp>
      <p:sp>
        <p:nvSpPr>
          <p:cNvPr id="17" name="text-33"/>
          <p:cNvSpPr txBox="1"/>
          <p:nvPr/>
        </p:nvSpPr>
        <p:spPr>
          <a:xfrm>
            <a:off x="4495800" y="2560320"/>
            <a:ext cx="12877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HR drafts; employee facts fill from HRIS.</a:t>
            </a:r>
            <a:endParaRPr lang="en-US" sz="1200" dirty="0"/>
          </a:p>
        </p:txBody>
      </p:sp>
      <p:sp>
        <p:nvSpPr>
          <p:cNvPr id="18" name="card-34"/>
          <p:cNvSpPr/>
          <p:nvPr/>
        </p:nvSpPr>
        <p:spPr>
          <a:xfrm>
            <a:off x="6195060" y="1371600"/>
            <a:ext cx="1653540" cy="2103120"/>
          </a:xfrm>
          <a:prstGeom prst="roundRect">
            <a:avLst>
              <a:gd name="adj" fmla="val 4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35"/>
          <p:cNvSpPr/>
          <p:nvPr/>
        </p:nvSpPr>
        <p:spPr>
          <a:xfrm>
            <a:off x="63779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otlabel-36"/>
          <p:cNvSpPr txBox="1"/>
          <p:nvPr/>
        </p:nvSpPr>
        <p:spPr>
          <a:xfrm>
            <a:off x="63779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-37"/>
          <p:cNvSpPr txBox="1"/>
          <p:nvPr/>
        </p:nvSpPr>
        <p:spPr>
          <a:xfrm>
            <a:off x="6377940" y="219456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Second check</a:t>
            </a:r>
            <a:endParaRPr lang="en-US" sz="1500" dirty="0"/>
          </a:p>
        </p:txBody>
      </p:sp>
      <p:sp>
        <p:nvSpPr>
          <p:cNvPr id="22" name="text-38"/>
          <p:cNvSpPr txBox="1"/>
          <p:nvPr/>
        </p:nvSpPr>
        <p:spPr>
          <a:xfrm>
            <a:off x="6377940" y="2560320"/>
            <a:ext cx="12877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 different HR user checks. The drafter cannot issue.</a:t>
            </a:r>
            <a:endParaRPr lang="en-US" sz="1200" dirty="0"/>
          </a:p>
        </p:txBody>
      </p:sp>
      <p:sp>
        <p:nvSpPr>
          <p:cNvPr id="23" name="card-39"/>
          <p:cNvSpPr/>
          <p:nvPr/>
        </p:nvSpPr>
        <p:spPr>
          <a:xfrm>
            <a:off x="8077200" y="1371600"/>
            <a:ext cx="1653540" cy="2103120"/>
          </a:xfrm>
          <a:prstGeom prst="roundRect">
            <a:avLst>
              <a:gd name="adj" fmla="val 4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t-40"/>
          <p:cNvSpPr/>
          <p:nvPr/>
        </p:nvSpPr>
        <p:spPr>
          <a:xfrm>
            <a:off x="826008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dotlabel-41"/>
          <p:cNvSpPr txBox="1"/>
          <p:nvPr/>
        </p:nvSpPr>
        <p:spPr>
          <a:xfrm>
            <a:off x="826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-42"/>
          <p:cNvSpPr txBox="1"/>
          <p:nvPr/>
        </p:nvSpPr>
        <p:spPr>
          <a:xfrm>
            <a:off x="8260080" y="219456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Issue</a:t>
            </a:r>
            <a:endParaRPr lang="en-US" sz="1500" dirty="0"/>
          </a:p>
        </p:txBody>
      </p:sp>
      <p:sp>
        <p:nvSpPr>
          <p:cNvPr id="27" name="text-43"/>
          <p:cNvSpPr txBox="1"/>
          <p:nvPr/>
        </p:nvSpPr>
        <p:spPr>
          <a:xfrm>
            <a:off x="8260080" y="2560320"/>
            <a:ext cx="12877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PC/LTR number and PDF.</a:t>
            </a:r>
            <a:endParaRPr lang="en-US" sz="1200" dirty="0"/>
          </a:p>
        </p:txBody>
      </p:sp>
      <p:sp>
        <p:nvSpPr>
          <p:cNvPr id="28" name="card-44"/>
          <p:cNvSpPr/>
          <p:nvPr/>
        </p:nvSpPr>
        <p:spPr>
          <a:xfrm>
            <a:off x="9959340" y="1371600"/>
            <a:ext cx="1653540" cy="2103120"/>
          </a:xfrm>
          <a:prstGeom prst="roundRect">
            <a:avLst>
              <a:gd name="adj" fmla="val 4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ot-45"/>
          <p:cNvSpPr/>
          <p:nvPr/>
        </p:nvSpPr>
        <p:spPr>
          <a:xfrm>
            <a:off x="101422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dotlabel-46"/>
          <p:cNvSpPr txBox="1"/>
          <p:nvPr/>
        </p:nvSpPr>
        <p:spPr>
          <a:xfrm>
            <a:off x="101422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-47"/>
          <p:cNvSpPr txBox="1"/>
          <p:nvPr/>
        </p:nvSpPr>
        <p:spPr>
          <a:xfrm>
            <a:off x="10142220" y="2194560"/>
            <a:ext cx="12877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Download</a:t>
            </a:r>
            <a:endParaRPr lang="en-US" sz="1500" dirty="0"/>
          </a:p>
        </p:txBody>
      </p:sp>
      <p:sp>
        <p:nvSpPr>
          <p:cNvPr id="32" name="text-48"/>
          <p:cNvSpPr txBox="1"/>
          <p:nvPr/>
        </p:nvSpPr>
        <p:spPr>
          <a:xfrm>
            <a:off x="10142220" y="2560320"/>
            <a:ext cx="12877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Staff download it from My Requests.</a:t>
            </a:r>
            <a:endParaRPr lang="en-US" sz="1200" dirty="0"/>
          </a:p>
        </p:txBody>
      </p:sp>
      <p:sp>
        <p:nvSpPr>
          <p:cNvPr id="33" name="card-49"/>
          <p:cNvSpPr/>
          <p:nvPr/>
        </p:nvSpPr>
        <p:spPr>
          <a:xfrm>
            <a:off x="548640" y="3749040"/>
            <a:ext cx="110642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-50"/>
          <p:cNvSpPr txBox="1"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template library</a:t>
            </a:r>
            <a:endParaRPr lang="en-US" sz="1600" dirty="0"/>
          </a:p>
        </p:txBody>
      </p:sp>
      <p:sp>
        <p:nvSpPr>
          <p:cNvPr id="35" name="text-51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Seven reference letters for staff: Visa, General Employment Record, Academic Excuse, Academic Reference, Release Staff Reference, Job Opportunity Reference, Financial Reference.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HR-only disciplinary letters used from People Manager cases: show cause, suspension, D&amp;G hearing invitation, warning, outcome, closure. Ref PC/DL.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HR adds, edits and retires templates without a code release.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Employee Voice: HR always receives it, others when chosen</a:t>
            </a:r>
            <a:endParaRPr lang="en-US" sz="2800" dirty="0"/>
          </a:p>
        </p:txBody>
      </p:sp>
      <p:sp>
        <p:nvSpPr>
          <p:cNvPr id="3" name="card-52"/>
          <p:cNvSpPr/>
          <p:nvPr/>
        </p:nvSpPr>
        <p:spPr>
          <a:xfrm>
            <a:off x="548640" y="146304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5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54"/>
          <p:cNvSpPr txBox="1"/>
          <p:nvPr/>
        </p:nvSpPr>
        <p:spPr>
          <a:xfrm>
            <a:off x="141732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HR</a:t>
            </a:r>
            <a:endParaRPr lang="en-US" sz="1500" dirty="0"/>
          </a:p>
        </p:txBody>
      </p:sp>
      <p:sp>
        <p:nvSpPr>
          <p:cNvPr id="6" name="text-55"/>
          <p:cNvSpPr txBox="1"/>
          <p:nvPr/>
        </p:nvSpPr>
        <p:spPr>
          <a:xfrm>
            <a:off x="1417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Always included. Handles it in the HR view.</a:t>
            </a:r>
            <a:endParaRPr lang="en-US" sz="1200" dirty="0"/>
          </a:p>
        </p:txBody>
      </p:sp>
      <p:sp>
        <p:nvSpPr>
          <p:cNvPr id="7" name="card-56"/>
          <p:cNvSpPr/>
          <p:nvPr/>
        </p:nvSpPr>
        <p:spPr>
          <a:xfrm>
            <a:off x="548640" y="251460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t-57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-58"/>
          <p:cNvSpPr txBox="1"/>
          <p:nvPr/>
        </p:nvSpPr>
        <p:spPr>
          <a:xfrm>
            <a:off x="14173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Division Chief</a:t>
            </a:r>
            <a:endParaRPr lang="en-US" sz="1500" dirty="0"/>
          </a:p>
        </p:txBody>
      </p:sp>
      <p:sp>
        <p:nvSpPr>
          <p:cNvPr id="10" name="text-59"/>
          <p:cNvSpPr txBox="1"/>
          <p:nvPr/>
        </p:nvSpPr>
        <p:spPr>
          <a:xfrm>
            <a:off x="14173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If chosen. Manager view: mark seen, respond to HR.</a:t>
            </a:r>
            <a:endParaRPr lang="en-US" sz="1200" dirty="0"/>
          </a:p>
        </p:txBody>
      </p:sp>
      <p:sp>
        <p:nvSpPr>
          <p:cNvPr id="11" name="card-60"/>
          <p:cNvSpPr/>
          <p:nvPr/>
        </p:nvSpPr>
        <p:spPr>
          <a:xfrm>
            <a:off x="548640" y="356616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ot-61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-62"/>
          <p:cNvSpPr txBox="1"/>
          <p:nvPr/>
        </p:nvSpPr>
        <p:spPr>
          <a:xfrm>
            <a:off x="141732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Division Director</a:t>
            </a:r>
            <a:endParaRPr lang="en-US" sz="1500" dirty="0"/>
          </a:p>
        </p:txBody>
      </p:sp>
      <p:sp>
        <p:nvSpPr>
          <p:cNvPr id="14" name="text-63"/>
          <p:cNvSpPr txBox="1"/>
          <p:nvPr/>
        </p:nvSpPr>
        <p:spPr>
          <a:xfrm>
            <a:off x="141732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If chosen. Manager view: mark seen, respond to HR.</a:t>
            </a:r>
            <a:endParaRPr lang="en-US" sz="1200" dirty="0"/>
          </a:p>
        </p:txBody>
      </p:sp>
      <p:sp>
        <p:nvSpPr>
          <p:cNvPr id="15" name="card-64"/>
          <p:cNvSpPr/>
          <p:nvPr/>
        </p:nvSpPr>
        <p:spPr>
          <a:xfrm>
            <a:off x="548640" y="4663440"/>
            <a:ext cx="420624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-65"/>
          <p:cNvSpPr txBox="1"/>
          <p:nvPr/>
        </p:nvSpPr>
        <p:spPr>
          <a:xfrm>
            <a:off x="777240" y="4800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Sexual harassment</a:t>
            </a:r>
            <a:endParaRPr lang="en-US" sz="1500" dirty="0"/>
          </a:p>
        </p:txBody>
      </p:sp>
      <p:sp>
        <p:nvSpPr>
          <p:cNvPr id="17" name="text-66"/>
          <p:cNvSpPr txBox="1"/>
          <p:nvPr/>
        </p:nvSpPr>
        <p:spPr>
          <a:xfrm>
            <a:off x="777240" y="5166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DBDB"/>
                </a:solidFill>
              </a:rPr>
              <a:t>Own category. HR only, always timebound, confidential.</a:t>
            </a:r>
            <a:endParaRPr lang="en-US" sz="1300" dirty="0"/>
          </a:p>
        </p:txBody>
      </p:sp>
      <p:sp>
        <p:nvSpPr>
          <p:cNvPr id="18" name="text-67"/>
          <p:cNvSpPr txBox="1"/>
          <p:nvPr/>
        </p:nvSpPr>
        <p:spPr>
          <a:xfrm>
            <a:off x="5120640" y="14630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Confidential reporting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Staff can keep their name confidential. Handlers see the EV reference number only and handle the case anonymously.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Chiefs and Directors never see a confidential name. Showing the reporter needs a reason and a second HR approval, and is logged.</a:t>
            </a:r>
            <a:endParaRPr lang="en-US" sz="1400" dirty="0"/>
          </a:p>
        </p:txBody>
      </p:sp>
      <p:sp>
        <p:nvSpPr>
          <p:cNvPr id="19" name="text-68"/>
          <p:cNvSpPr txBox="1"/>
          <p:nvPr/>
        </p:nvSpPr>
        <p:spPr>
          <a:xfrm>
            <a:off x="5120640" y="338328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HR 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Acknowledge, post updates, ask for information, add internal notes.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 as formal grievance or informal concern; due dates recalculate.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Issue the outcome and close, or open a linked ER case in People Manager.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People Manager: report, case, letter, acknowledgement</a:t>
            </a:r>
            <a:endParaRPr lang="en-US" sz="2800" dirty="0"/>
          </a:p>
        </p:txBody>
      </p:sp>
      <p:sp>
        <p:nvSpPr>
          <p:cNvPr id="3" name="card-69"/>
          <p:cNvSpPr/>
          <p:nvPr/>
        </p:nvSpPr>
        <p:spPr>
          <a:xfrm>
            <a:off x="548640" y="1371600"/>
            <a:ext cx="2029968" cy="20574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70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otlabel-71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72"/>
          <p:cNvSpPr txBox="1"/>
          <p:nvPr/>
        </p:nvSpPr>
        <p:spPr>
          <a:xfrm>
            <a:off x="731520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Manager reports</a:t>
            </a:r>
            <a:endParaRPr lang="en-US" sz="1500" dirty="0"/>
          </a:p>
        </p:txBody>
      </p:sp>
      <p:sp>
        <p:nvSpPr>
          <p:cNvPr id="7" name="text-73"/>
          <p:cNvSpPr txBox="1"/>
          <p:nvPr/>
        </p:nvSpPr>
        <p:spPr>
          <a:xfrm>
            <a:off x="731520" y="25603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Issue type, employee, facts, evidence; HR plus Chief or Director if chosen. Ref PM.</a:t>
            </a:r>
            <a:endParaRPr lang="en-US" sz="1200" dirty="0"/>
          </a:p>
        </p:txBody>
      </p:sp>
      <p:sp>
        <p:nvSpPr>
          <p:cNvPr id="8" name="card-74"/>
          <p:cNvSpPr/>
          <p:nvPr/>
        </p:nvSpPr>
        <p:spPr>
          <a:xfrm>
            <a:off x="2807208" y="1371600"/>
            <a:ext cx="2029968" cy="20574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75"/>
          <p:cNvSpPr/>
          <p:nvPr/>
        </p:nvSpPr>
        <p:spPr>
          <a:xfrm>
            <a:off x="2990088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label-76"/>
          <p:cNvSpPr txBox="1"/>
          <p:nvPr/>
        </p:nvSpPr>
        <p:spPr>
          <a:xfrm>
            <a:off x="299008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77"/>
          <p:cNvSpPr txBox="1"/>
          <p:nvPr/>
        </p:nvSpPr>
        <p:spPr>
          <a:xfrm>
            <a:off x="2990088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HR intake</a:t>
            </a:r>
            <a:endParaRPr lang="en-US" sz="1500" dirty="0"/>
          </a:p>
        </p:txBody>
      </p:sp>
      <p:sp>
        <p:nvSpPr>
          <p:cNvPr id="12" name="text-78"/>
          <p:cNvSpPr txBox="1"/>
          <p:nvPr/>
        </p:nvSpPr>
        <p:spPr>
          <a:xfrm>
            <a:off x="2990088" y="25603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Open a case, or close with advice. Manager sees only the result.</a:t>
            </a:r>
            <a:endParaRPr lang="en-US" sz="1200" dirty="0"/>
          </a:p>
        </p:txBody>
      </p:sp>
      <p:sp>
        <p:nvSpPr>
          <p:cNvPr id="13" name="card-79"/>
          <p:cNvSpPr/>
          <p:nvPr/>
        </p:nvSpPr>
        <p:spPr>
          <a:xfrm>
            <a:off x="5065776" y="1371600"/>
            <a:ext cx="2029968" cy="20574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80"/>
          <p:cNvSpPr/>
          <p:nvPr/>
        </p:nvSpPr>
        <p:spPr>
          <a:xfrm>
            <a:off x="5248656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otlabel-81"/>
          <p:cNvSpPr txBox="1"/>
          <p:nvPr/>
        </p:nvSpPr>
        <p:spPr>
          <a:xfrm>
            <a:off x="524865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82"/>
          <p:cNvSpPr txBox="1"/>
          <p:nvPr/>
        </p:nvSpPr>
        <p:spPr>
          <a:xfrm>
            <a:off x="5248656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 case</a:t>
            </a:r>
            <a:endParaRPr lang="en-US" sz="1500" dirty="0"/>
          </a:p>
        </p:txBody>
      </p:sp>
      <p:sp>
        <p:nvSpPr>
          <p:cNvPr id="17" name="text-83"/>
          <p:cNvSpPr txBox="1"/>
          <p:nvPr/>
        </p:nvSpPr>
        <p:spPr>
          <a:xfrm>
            <a:off x="5248656" y="25603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Ref ER. Stages, timeline, case log, case officer.</a:t>
            </a:r>
            <a:endParaRPr lang="en-US" sz="1200" dirty="0"/>
          </a:p>
        </p:txBody>
      </p:sp>
      <p:sp>
        <p:nvSpPr>
          <p:cNvPr id="18" name="card-84"/>
          <p:cNvSpPr/>
          <p:nvPr/>
        </p:nvSpPr>
        <p:spPr>
          <a:xfrm>
            <a:off x="7324344" y="1371600"/>
            <a:ext cx="2029968" cy="20574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85"/>
          <p:cNvSpPr/>
          <p:nvPr/>
        </p:nvSpPr>
        <p:spPr>
          <a:xfrm>
            <a:off x="7507224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otlabel-86"/>
          <p:cNvSpPr txBox="1"/>
          <p:nvPr/>
        </p:nvSpPr>
        <p:spPr>
          <a:xfrm>
            <a:off x="750722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-87"/>
          <p:cNvSpPr txBox="1"/>
          <p:nvPr/>
        </p:nvSpPr>
        <p:spPr>
          <a:xfrm>
            <a:off x="7507224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D&amp;G Committee</a:t>
            </a:r>
            <a:endParaRPr lang="en-US" sz="1500" dirty="0"/>
          </a:p>
        </p:txBody>
      </p:sp>
      <p:sp>
        <p:nvSpPr>
          <p:cNvPr id="22" name="text-88"/>
          <p:cNvSpPr txBox="1"/>
          <p:nvPr/>
        </p:nvSpPr>
        <p:spPr>
          <a:xfrm>
            <a:off x="7507224" y="25603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Only when referred. Hearing date and committee decision.</a:t>
            </a:r>
            <a:endParaRPr lang="en-US" sz="1200" dirty="0"/>
          </a:p>
        </p:txBody>
      </p:sp>
      <p:sp>
        <p:nvSpPr>
          <p:cNvPr id="23" name="card-89"/>
          <p:cNvSpPr/>
          <p:nvPr/>
        </p:nvSpPr>
        <p:spPr>
          <a:xfrm>
            <a:off x="9582912" y="1371600"/>
            <a:ext cx="2029968" cy="20574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t-90"/>
          <p:cNvSpPr/>
          <p:nvPr/>
        </p:nvSpPr>
        <p:spPr>
          <a:xfrm>
            <a:off x="9765792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dotlabel-91"/>
          <p:cNvSpPr txBox="1"/>
          <p:nvPr/>
        </p:nvSpPr>
        <p:spPr>
          <a:xfrm>
            <a:off x="976579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-92"/>
          <p:cNvSpPr txBox="1"/>
          <p:nvPr/>
        </p:nvSpPr>
        <p:spPr>
          <a:xfrm>
            <a:off x="9765792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Employee</a:t>
            </a:r>
            <a:endParaRPr lang="en-US" sz="1500" dirty="0"/>
          </a:p>
        </p:txBody>
      </p:sp>
      <p:sp>
        <p:nvSpPr>
          <p:cNvPr id="27" name="text-93"/>
          <p:cNvSpPr txBox="1"/>
          <p:nvPr/>
        </p:nvSpPr>
        <p:spPr>
          <a:xfrm>
            <a:off x="9765792" y="256032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Gets letters in My HR letters; acknowledges; replies to show cause.</a:t>
            </a:r>
            <a:endParaRPr lang="en-US" sz="1200" dirty="0"/>
          </a:p>
        </p:txBody>
      </p:sp>
      <p:sp>
        <p:nvSpPr>
          <p:cNvPr id="28" name="stage-94"/>
          <p:cNvSpPr/>
          <p:nvPr/>
        </p:nvSpPr>
        <p:spPr>
          <a:xfrm>
            <a:off x="548640" y="3749040"/>
            <a:ext cx="169164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-95"/>
          <p:cNvSpPr txBox="1"/>
          <p:nvPr/>
        </p:nvSpPr>
        <p:spPr>
          <a:xfrm>
            <a:off x="548640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Intake</a:t>
            </a:r>
            <a:endParaRPr lang="en-US" sz="1300" dirty="0"/>
          </a:p>
        </p:txBody>
      </p:sp>
      <p:sp>
        <p:nvSpPr>
          <p:cNvPr id="30" name="stage-96"/>
          <p:cNvSpPr/>
          <p:nvPr/>
        </p:nvSpPr>
        <p:spPr>
          <a:xfrm>
            <a:off x="2423160" y="3749040"/>
            <a:ext cx="169164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-97"/>
          <p:cNvSpPr txBox="1"/>
          <p:nvPr/>
        </p:nvSpPr>
        <p:spPr>
          <a:xfrm>
            <a:off x="2423160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Investigation</a:t>
            </a:r>
            <a:endParaRPr lang="en-US" sz="1300" dirty="0"/>
          </a:p>
        </p:txBody>
      </p:sp>
      <p:sp>
        <p:nvSpPr>
          <p:cNvPr id="32" name="stage-98"/>
          <p:cNvSpPr/>
          <p:nvPr/>
        </p:nvSpPr>
        <p:spPr>
          <a:xfrm>
            <a:off x="4297680" y="3749040"/>
            <a:ext cx="169164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-99"/>
          <p:cNvSpPr txBox="1"/>
          <p:nvPr/>
        </p:nvSpPr>
        <p:spPr>
          <a:xfrm>
            <a:off x="4297680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Show cause</a:t>
            </a:r>
            <a:endParaRPr lang="en-US" sz="1300" dirty="0"/>
          </a:p>
        </p:txBody>
      </p:sp>
      <p:sp>
        <p:nvSpPr>
          <p:cNvPr id="34" name="stage-100"/>
          <p:cNvSpPr/>
          <p:nvPr/>
        </p:nvSpPr>
        <p:spPr>
          <a:xfrm>
            <a:off x="6172200" y="3749040"/>
            <a:ext cx="16916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-101"/>
          <p:cNvSpPr txBox="1"/>
          <p:nvPr/>
        </p:nvSpPr>
        <p:spPr>
          <a:xfrm>
            <a:off x="6172200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D&amp;G Committee</a:t>
            </a:r>
            <a:endParaRPr lang="en-US" sz="1300" dirty="0"/>
          </a:p>
        </p:txBody>
      </p:sp>
      <p:sp>
        <p:nvSpPr>
          <p:cNvPr id="36" name="stage-102"/>
          <p:cNvSpPr/>
          <p:nvPr/>
        </p:nvSpPr>
        <p:spPr>
          <a:xfrm>
            <a:off x="8046720" y="3749040"/>
            <a:ext cx="169164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text-103"/>
          <p:cNvSpPr txBox="1"/>
          <p:nvPr/>
        </p:nvSpPr>
        <p:spPr>
          <a:xfrm>
            <a:off x="8046720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Decision</a:t>
            </a:r>
            <a:endParaRPr lang="en-US" sz="1300" dirty="0"/>
          </a:p>
        </p:txBody>
      </p:sp>
      <p:sp>
        <p:nvSpPr>
          <p:cNvPr id="38" name="stage-104"/>
          <p:cNvSpPr/>
          <p:nvPr/>
        </p:nvSpPr>
        <p:spPr>
          <a:xfrm>
            <a:off x="9921240" y="3749040"/>
            <a:ext cx="1691640" cy="50292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-105"/>
          <p:cNvSpPr txBox="1"/>
          <p:nvPr/>
        </p:nvSpPr>
        <p:spPr>
          <a:xfrm>
            <a:off x="9921240" y="3749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Closed</a:t>
            </a:r>
            <a:endParaRPr lang="en-US" sz="1300" dirty="0"/>
          </a:p>
        </p:txBody>
      </p:sp>
      <p:sp>
        <p:nvSpPr>
          <p:cNvPr id="40" name="text-106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Disciplinary letters come from the shared template library and need a second HR check (PC/DL). Unacknowledged letters are flagged for hand delivery.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Staff view: the employee sees only their own letters and case stage. Manager view: team case stages only, never letters or notes.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30 existing cases are imported with their numbers, stage and history, marked as migrated.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recorded from no action to termination; case closed with its full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Exit Interviews: trustworthy data, protected leavers</a:t>
            </a:r>
            <a:endParaRPr lang="en-US" sz="2800" dirty="0"/>
          </a:p>
        </p:txBody>
      </p:sp>
      <p:sp>
        <p:nvSpPr>
          <p:cNvPr id="3" name="card-107"/>
          <p:cNvSpPr/>
          <p:nvPr/>
        </p:nvSpPr>
        <p:spPr>
          <a:xfrm>
            <a:off x="548640" y="1371600"/>
            <a:ext cx="202996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108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otlabel-109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110"/>
          <p:cNvSpPr txBox="1"/>
          <p:nvPr/>
        </p:nvSpPr>
        <p:spPr>
          <a:xfrm>
            <a:off x="731520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Invite</a:t>
            </a:r>
            <a:endParaRPr lang="en-US" sz="1500" dirty="0"/>
          </a:p>
        </p:txBody>
      </p:sp>
      <p:sp>
        <p:nvSpPr>
          <p:cNvPr id="7" name="text-111"/>
          <p:cNvSpPr txBox="1"/>
          <p:nvPr/>
        </p:nvSpPr>
        <p:spPr>
          <a:xfrm>
            <a:off x="731520" y="25603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Resignation recorded in ESS; the record gets an EX number.</a:t>
            </a:r>
            <a:endParaRPr lang="en-US" sz="1200" dirty="0"/>
          </a:p>
        </p:txBody>
      </p:sp>
      <p:sp>
        <p:nvSpPr>
          <p:cNvPr id="8" name="card-112"/>
          <p:cNvSpPr/>
          <p:nvPr/>
        </p:nvSpPr>
        <p:spPr>
          <a:xfrm>
            <a:off x="2807208" y="1371600"/>
            <a:ext cx="202996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113"/>
          <p:cNvSpPr/>
          <p:nvPr/>
        </p:nvSpPr>
        <p:spPr>
          <a:xfrm>
            <a:off x="2990088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label-114"/>
          <p:cNvSpPr txBox="1"/>
          <p:nvPr/>
        </p:nvSpPr>
        <p:spPr>
          <a:xfrm>
            <a:off x="299008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115"/>
          <p:cNvSpPr txBox="1"/>
          <p:nvPr/>
        </p:nvSpPr>
        <p:spPr>
          <a:xfrm>
            <a:off x="2990088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Questionnaire</a:t>
            </a:r>
            <a:endParaRPr lang="en-US" sz="1500" dirty="0"/>
          </a:p>
        </p:txBody>
      </p:sp>
      <p:sp>
        <p:nvSpPr>
          <p:cNvPr id="12" name="text-116"/>
          <p:cNvSpPr txBox="1"/>
          <p:nvPr/>
        </p:nvSpPr>
        <p:spPr>
          <a:xfrm>
            <a:off x="2990088" y="25603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Reasons, ratings, comments; save and return.</a:t>
            </a:r>
            <a:endParaRPr lang="en-US" sz="1200" dirty="0"/>
          </a:p>
        </p:txBody>
      </p:sp>
      <p:sp>
        <p:nvSpPr>
          <p:cNvPr id="13" name="card-117"/>
          <p:cNvSpPr/>
          <p:nvPr/>
        </p:nvSpPr>
        <p:spPr>
          <a:xfrm>
            <a:off x="5065776" y="1371600"/>
            <a:ext cx="202996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118"/>
          <p:cNvSpPr/>
          <p:nvPr/>
        </p:nvSpPr>
        <p:spPr>
          <a:xfrm>
            <a:off x="5248656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otlabel-119"/>
          <p:cNvSpPr txBox="1"/>
          <p:nvPr/>
        </p:nvSpPr>
        <p:spPr>
          <a:xfrm>
            <a:off x="524865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120"/>
          <p:cNvSpPr txBox="1"/>
          <p:nvPr/>
        </p:nvSpPr>
        <p:spPr>
          <a:xfrm>
            <a:off x="5248656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Choices</a:t>
            </a:r>
            <a:endParaRPr lang="en-US" sz="1500" dirty="0"/>
          </a:p>
        </p:txBody>
      </p:sp>
      <p:sp>
        <p:nvSpPr>
          <p:cNvPr id="17" name="text-121"/>
          <p:cNvSpPr txBox="1"/>
          <p:nvPr/>
        </p:nvSpPr>
        <p:spPr>
          <a:xfrm>
            <a:off x="5248656" y="25603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HR conversation; sharing a summary with the manager is off by default.</a:t>
            </a:r>
            <a:endParaRPr lang="en-US" sz="1200" dirty="0"/>
          </a:p>
        </p:txBody>
      </p:sp>
      <p:sp>
        <p:nvSpPr>
          <p:cNvPr id="18" name="card-122"/>
          <p:cNvSpPr/>
          <p:nvPr/>
        </p:nvSpPr>
        <p:spPr>
          <a:xfrm>
            <a:off x="7324344" y="1371600"/>
            <a:ext cx="202996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123"/>
          <p:cNvSpPr/>
          <p:nvPr/>
        </p:nvSpPr>
        <p:spPr>
          <a:xfrm>
            <a:off x="7507224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otlabel-124"/>
          <p:cNvSpPr txBox="1"/>
          <p:nvPr/>
        </p:nvSpPr>
        <p:spPr>
          <a:xfrm>
            <a:off x="750722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-125"/>
          <p:cNvSpPr txBox="1"/>
          <p:nvPr/>
        </p:nvSpPr>
        <p:spPr>
          <a:xfrm>
            <a:off x="7507224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HR follow up</a:t>
            </a:r>
            <a:endParaRPr lang="en-US" sz="1500" dirty="0"/>
          </a:p>
        </p:txBody>
      </p:sp>
      <p:sp>
        <p:nvSpPr>
          <p:cNvPr id="22" name="text-126"/>
          <p:cNvSpPr txBox="1"/>
          <p:nvPr/>
        </p:nvSpPr>
        <p:spPr>
          <a:xfrm>
            <a:off x="7507224" y="25603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Notes, themes and actions with owner and due date.</a:t>
            </a:r>
            <a:endParaRPr lang="en-US" sz="1200" dirty="0"/>
          </a:p>
        </p:txBody>
      </p:sp>
      <p:sp>
        <p:nvSpPr>
          <p:cNvPr id="23" name="card-127"/>
          <p:cNvSpPr/>
          <p:nvPr/>
        </p:nvSpPr>
        <p:spPr>
          <a:xfrm>
            <a:off x="9582912" y="1371600"/>
            <a:ext cx="202996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t-128"/>
          <p:cNvSpPr/>
          <p:nvPr/>
        </p:nvSpPr>
        <p:spPr>
          <a:xfrm>
            <a:off x="9765792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dotlabel-129"/>
          <p:cNvSpPr txBox="1"/>
          <p:nvPr/>
        </p:nvSpPr>
        <p:spPr>
          <a:xfrm>
            <a:off x="9765792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-130"/>
          <p:cNvSpPr txBox="1"/>
          <p:nvPr/>
        </p:nvSpPr>
        <p:spPr>
          <a:xfrm>
            <a:off x="9765792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Manager</a:t>
            </a:r>
            <a:endParaRPr lang="en-US" sz="1500" dirty="0"/>
          </a:p>
        </p:txBody>
      </p:sp>
      <p:sp>
        <p:nvSpPr>
          <p:cNvPr id="27" name="text-131"/>
          <p:cNvSpPr txBox="1"/>
          <p:nvPr/>
        </p:nvSpPr>
        <p:spPr>
          <a:xfrm>
            <a:off x="9765792" y="256032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Sees shared summaries; completes assigned actions.</a:t>
            </a:r>
            <a:endParaRPr lang="en-US" sz="1200" dirty="0"/>
          </a:p>
        </p:txBody>
      </p:sp>
      <p:sp>
        <p:nvSpPr>
          <p:cNvPr id="28" name="card-132"/>
          <p:cNvSpPr/>
          <p:nvPr/>
        </p:nvSpPr>
        <p:spPr>
          <a:xfrm>
            <a:off x="548640" y="3657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133"/>
          <p:cNvSpPr txBox="1"/>
          <p:nvPr/>
        </p:nvSpPr>
        <p:spPr>
          <a:xfrm>
            <a:off x="777240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Groups under 5</a:t>
            </a:r>
            <a:endParaRPr lang="en-US" sz="1600" dirty="0"/>
          </a:p>
        </p:txBody>
      </p:sp>
      <p:sp>
        <p:nvSpPr>
          <p:cNvPr id="30" name="text-134"/>
          <p:cNvSpPr txBox="1"/>
          <p:nvPr/>
        </p:nvSpPr>
        <p:spPr>
          <a:xfrm>
            <a:off x="777240" y="4297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hidden in every report</a:t>
            </a:r>
            <a:endParaRPr lang="en-US" sz="1300" dirty="0"/>
          </a:p>
        </p:txBody>
      </p:sp>
      <p:sp>
        <p:nvSpPr>
          <p:cNvPr id="31" name="card-135"/>
          <p:cNvSpPr/>
          <p:nvPr/>
        </p:nvSpPr>
        <p:spPr>
          <a:xfrm>
            <a:off x="3383280" y="3657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-136"/>
          <p:cNvSpPr txBox="1"/>
          <p:nvPr/>
        </p:nvSpPr>
        <p:spPr>
          <a:xfrm>
            <a:off x="3611880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Missing ratings</a:t>
            </a:r>
            <a:endParaRPr lang="en-US" sz="1600" dirty="0"/>
          </a:p>
        </p:txBody>
      </p:sp>
      <p:sp>
        <p:nvSpPr>
          <p:cNvPr id="33" name="text-137"/>
          <p:cNvSpPr txBox="1"/>
          <p:nvPr/>
        </p:nvSpPr>
        <p:spPr>
          <a:xfrm>
            <a:off x="3611880" y="4297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left out, never counted as zero</a:t>
            </a:r>
            <a:endParaRPr lang="en-US" sz="1300" dirty="0"/>
          </a:p>
        </p:txBody>
      </p:sp>
      <p:sp>
        <p:nvSpPr>
          <p:cNvPr id="34" name="card-138"/>
          <p:cNvSpPr/>
          <p:nvPr/>
        </p:nvSpPr>
        <p:spPr>
          <a:xfrm>
            <a:off x="6217920" y="3657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-139"/>
          <p:cNvSpPr txBox="1"/>
          <p:nvPr/>
        </p:nvSpPr>
        <p:spPr>
          <a:xfrm>
            <a:off x="6446520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Division names</a:t>
            </a:r>
            <a:endParaRPr lang="en-US" sz="1600" dirty="0"/>
          </a:p>
        </p:txBody>
      </p:sp>
      <p:sp>
        <p:nvSpPr>
          <p:cNvPr id="36" name="text-140"/>
          <p:cNvSpPr txBox="1"/>
          <p:nvPr/>
        </p:nvSpPr>
        <p:spPr>
          <a:xfrm>
            <a:off x="6446520" y="4297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taken from HRIS, not typed</a:t>
            </a:r>
            <a:endParaRPr lang="en-US" sz="1300" dirty="0"/>
          </a:p>
        </p:txBody>
      </p:sp>
      <p:sp>
        <p:nvSpPr>
          <p:cNvPr id="37" name="card-141"/>
          <p:cNvSpPr/>
          <p:nvPr/>
        </p:nvSpPr>
        <p:spPr>
          <a:xfrm>
            <a:off x="9052560" y="3657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-142"/>
          <p:cNvSpPr txBox="1"/>
          <p:nvPr/>
        </p:nvSpPr>
        <p:spPr>
          <a:xfrm>
            <a:off x="9281160" y="3840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Questions</a:t>
            </a:r>
            <a:endParaRPr lang="en-US" sz="1600" dirty="0"/>
          </a:p>
        </p:txBody>
      </p:sp>
      <p:sp>
        <p:nvSpPr>
          <p:cNvPr id="39" name="text-143"/>
          <p:cNvSpPr txBox="1"/>
          <p:nvPr/>
        </p:nvSpPr>
        <p:spPr>
          <a:xfrm>
            <a:off x="9281160" y="42976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HR edits; each change is a new version</a:t>
            </a:r>
            <a:endParaRPr lang="en-US" sz="1300" dirty="0"/>
          </a:p>
        </p:txBody>
      </p:sp>
      <p:sp>
        <p:nvSpPr>
          <p:cNvPr id="40" name="text-144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Replaces the ExitBuddy prototype and fixes its reporting issues.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record gets its own reference number automatically</a:t>
            </a:r>
            <a:endParaRPr lang="en-US" sz="2800" dirty="0"/>
          </a:p>
        </p:txBody>
      </p:sp>
      <p:graphicFrame>
        <p:nvGraphicFramePr>
          <p:cNvPr id="9" name="table-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38404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Prefix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App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PC/RL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PC/RL/2026/0042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Letter request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Automation Bot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PC/LTR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PC/LTR/2026/0119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Issued reference letter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Automation Bot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PC/DL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PC/DL/2026/0038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Issued disciplinary letter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People Manager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EV/2026/0042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Employee Voice report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Employee Voice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PM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PM/2026/0022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Manager request or report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People Manager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ER/2026/0042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 case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People Manager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EX/2026/0044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Exit record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Exit Interviews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146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Sequential per prefix and year. Created by the system, never reused, not editable. Letter numbers are given only on issue, so drafts never use a number.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Timebound cases follow timelines HR sets to match policy</a:t>
            </a:r>
            <a:endParaRPr lang="en-US" sz="2800" dirty="0"/>
          </a:p>
        </p:txBody>
      </p:sp>
      <p:graphicFrame>
        <p:nvGraphicFramePr>
          <p:cNvPr id="10" name="table-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Case type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Timebound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Steps (working days from opening)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Disciplinary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Show cause 5 · employee reply 8 · investigation 20 · decision 30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Grievance (formal)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Always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Acknowledge 2 · investigation 10 · outcome 20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Grievance (informal)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HR choice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Acknowledge 3 · outcome 15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HR choice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Improvement plan 10 · review 40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Sexual harassment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Always, HR only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Acknowledge 1 · investigation 7 · outcome 15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148"/>
          <p:cNvSpPr txBox="1"/>
          <p:nvPr/>
        </p:nvSpPr>
        <p:spPr>
          <a:xfrm>
            <a:off x="548640" y="3931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Sample values. HR changes them in Settings without a release, and open cases pick up the new due dates.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Working days exclude Friday, Saturday and public holidays. Late steps show as overdue in the inbox and case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Ready for review; five decisions needed from P&amp;C</a:t>
            </a:r>
            <a:endParaRPr lang="en-US" sz="2800" dirty="0"/>
          </a:p>
        </p:txBody>
      </p:sp>
      <p:sp>
        <p:nvSpPr>
          <p:cNvPr id="3" name="card-149"/>
          <p:cNvSpPr/>
          <p:nvPr/>
        </p:nvSpPr>
        <p:spPr>
          <a:xfrm>
            <a:off x="54864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50"/>
          <p:cNvSpPr txBox="1"/>
          <p:nvPr/>
        </p:nvSpPr>
        <p:spPr>
          <a:xfrm>
            <a:off x="82296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Ready 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Four CRs, one per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Four clickable prototypes with Staff, Manager and HR views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Package to host the prototypes on our own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Developer handover on the OneUI starter kit, with tested database migrations</a:t>
            </a:r>
            <a:endParaRPr lang="en-US" sz="1400" dirty="0"/>
          </a:p>
        </p:txBody>
      </p:sp>
      <p:sp>
        <p:nvSpPr>
          <p:cNvPr id="5" name="card-151"/>
          <p:cNvSpPr/>
          <p:nvPr/>
        </p:nvSpPr>
        <p:spPr>
          <a:xfrm>
            <a:off x="630936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52"/>
          <p:cNvSpPr txBox="1"/>
          <p:nvPr/>
        </p:nvSpPr>
        <p:spPr>
          <a:xfrm>
            <a:off x="658368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Decisions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Policy timelines for each case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D&amp;G Committee composition and quorum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Wording of the 13 letter templates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Second approver for showing a reporter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Field mapping for the 30 existing cases</a:t>
            </a:r>
            <a:endParaRPr lang="en-US" sz="1400" dirty="0"/>
          </a:p>
        </p:txBody>
      </p:sp>
      <p:sp>
        <p:nvSpPr>
          <p:cNvPr id="7" name="card-153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-154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Later phase: Microsoft 365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2DBDB"/>
                </a:solidFill>
              </a:rPr>
              <a:t>Entra ID sign-in, Outlook and Teams notices, hearing invites, SharePoint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C Red Black">
  <a:themeElements>
    <a:clrScheme name="PC Red Black">
      <a:dk1>
        <a:srgbClr val="1A1416"/>
      </a:dk1>
      <a:lt1>
        <a:srgbClr val="FFFFFF"/>
      </a:lt1>
      <a:dk2>
        <a:srgbClr val="2E2629"/>
      </a:dk2>
      <a:lt2>
        <a:srgbClr val="F4F1F1"/>
      </a:lt2>
      <a:accent1>
        <a:srgbClr val="C8102E"/>
      </a:accent1>
      <a:accent2>
        <a:srgbClr val="6B5F62"/>
      </a:accent2>
      <a:accent3>
        <a:srgbClr val="1D7A46"/>
      </a:accent3>
      <a:accent4>
        <a:srgbClr val="A15C00"/>
      </a:accent4>
      <a:accent5>
        <a:srgbClr val="355C9A"/>
      </a:accent5>
      <a:accent6>
        <a:srgbClr val="E2DBDB"/>
      </a:accent6>
      <a:hlink>
        <a:srgbClr val="C8102E"/>
      </a:hlink>
      <a:folHlink>
        <a:srgbClr val="6B5F62"/>
      </a:folHlink>
    </a:clrScheme>
    <a:fontScheme name="PC Red Blac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and Culture Apps</dc:title>
  <dc:subject>PptxGenJS Presentation</dc:subject>
  <dc:creator>People and Culture</dc:creator>
  <cp:lastModifiedBy>People and Culture</cp:lastModifiedBy>
  <cp:revision>1</cp:revision>
  <dcterms:created xsi:type="dcterms:W3CDTF">2026-10-23T23:44:26Z</dcterms:created>
  <dcterms:modified xsi:type="dcterms:W3CDTF">2026-10-23T23:44:26Z</dcterms:modified>
</cp:coreProperties>
</file>